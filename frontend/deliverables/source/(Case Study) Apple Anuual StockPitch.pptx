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189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6275" y="1485900"/>
            <a:ext cx="32713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INC.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921579" y="2324100"/>
            <a:ext cx="33008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&amp; Valuation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16202" y="2872740"/>
            <a:ext cx="41114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Official 10-K SEC Filings (2023-2025)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73540" y="3444240"/>
            <a:ext cx="359692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• Comprehensive Financial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503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Tech Leader: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$4.3 trillion market cap, designing and manufacturing smartphones, computers, tablets, wearables, and services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Portfolio: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iPhone (primary revenue driver), Mac, iPad, Wearables, Home devices, and Services ecosystem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Vertically integrated with in-house hardware, OS, software, and services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Presence: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40% revenue from direct channels; 60% through resellers across Americas, Europe, Greater China, Japan, and Asia Pacific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813560"/>
          <a:ext cx="7924800" cy="225552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Change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Sales (M)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$383,285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$391,035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$416,161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 (M)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$167,949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$170,782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$195,201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Income (M)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$114,301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$123,216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$133,050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Income (M)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$96,995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$93,736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$112,010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(KPI) - Revenue Trends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402081"/>
          <a:ext cx="7924800" cy="225552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 Strong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Margin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 Expanding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 Margin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 Recovery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(Diluted)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$7.58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 Growth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 Analysis - Margin Trends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25880"/>
          <a:ext cx="7924800" cy="3079671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9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2023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2024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2025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Benchmark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 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27.5%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25.7%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31.2%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(20%+ superior)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ROE 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155.2%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164.6%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152.0%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Outstanding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Debt-to-Equity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(tech avg 0.8-1.5x)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Ratio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(&gt;1.0x)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Turnover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P/E Ratio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29.5x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31.9x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33.8x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(tech avg 25-35x)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Financial Ratios Analysis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402080"/>
          <a:ext cx="7924800" cy="3154683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(Millions)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Assets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$352,755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$364,980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$359,241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Shareholders' Equity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$62,518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$56,950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$73,733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Debt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$106,918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$108,949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$107,500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Cash 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$110,543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$115,910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Cash 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 Value per Share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 &amp; Cash Flow Analysis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 - Bull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Model: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Services growing steadily, providing 26% of revenue with 70%+ gross margins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Lock-in: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billion active devices create powerful network effects and customer stickiness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FCF Generation: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$102B annual FCF enables dividends ($14B), buybacks ($110B+), and R&amp;D investment ($30B)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Expansion: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FY25 gross margin at 46.9%, reflecting AI-enabled pricing power and operational efficiency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402080"/>
          <a:ext cx="7924800" cy="3154683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Valuation 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P/E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31.2x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valuation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EV/EBITDA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28.4x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Elevated vs peers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P/B Ratio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42.1x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intangible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Price/FCF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38.5x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Above historical average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Dividend Yield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but stable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Intrinsic Value (DCF)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~$112 per share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~55% below current 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 - Valuation Metrics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- Strategic Risks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82"/>
            <a:ext cx="7620000" cy="2503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Exposure (19% revenue):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Declining sales, regulatory pressure, geopolitical tensions with US, and local competition (Huawei, Xiaomi)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Dependency: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52% of revenue from single product; market saturation in developed markets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Regulatory Pressure: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Digital Markets Act compliance costs, App Store restrictions, interoperability mandates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Monetization Uncertainty: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Apple Intelligence features' impact on ARPU (average revenue per user) unclear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- Operational Risks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82"/>
            <a:ext cx="762000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Vulnerability: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Single/limited source components (TSMC dependent), DRAM price volatility (140bps gross margin impact projected 2026)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Pressure: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 cost increases, manufacturing geopolitics (Taiwan risk), tariff implications (10-20% on China imports)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Pro Underperformance: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Mixed market response, unproven demand for spatial computing category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Risk: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128% overvaluation vs intrinsic value per DCF analysis suggests limited margin of safety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Mitigation &amp; Management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82"/>
            <a:ext cx="762000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Diversification: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Expand India presence, reduce China exposure to &lt;15% over 3 years through market diversification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Growth Focus: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$100B+ services revenue by 2027 to reduce hardware dependency and stabilize margins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Develop AI-native products and premium tiers to justify 32%+ operating margins and support valuation multiples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Resilience: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Multi-sourcing strategy, nearshoring to Mexico/Vietnam, inventory buffers for critical components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3"/>
            <a:ext cx="7924800" cy="169809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55475"/>
            <a:ext cx="7924800" cy="15446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Financial Health Assessment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29423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STRENGTHS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20952"/>
            <a:ext cx="7086600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31.2% ROA, 152% ROE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$102B free cash flow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46.9% gross margin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balance sheet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14400" y="315262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CONCERNS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8700" y="3426948"/>
            <a:ext cx="7086600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33.8x P/E (premium)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128% overvaluation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exposure risk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saturation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2803" y="1463041"/>
            <a:ext cx="4878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Recommendation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2103123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Rating: HOLD / CAUTIOUS BUY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2522223"/>
            <a:ext cx="792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remains a high-quality business with exceptional profitability and cash generation. However, current valuation at 33.8x P/E reflects significant optimism. Suitable for long-term holders with 10+ year horizons; new investors should wait for valuation reset or 15-20% pullback.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93299" y="3467100"/>
            <a:ext cx="435740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Price: $280-320 (12-month); Fair Value: $112-140 (DCF)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Excellence: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FY25 shows strong revenue growth (+6.4%), margin expansion (46.9% gross), and net income recovery (+19.4%)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Question: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Premium 33.8x P/E and $4.3T market cap may limit upside; DCF suggests 55% downside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Risk/Reward Asymmetry: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Downside risks (China, iPhone saturation, regulatory) outweigh upside at current valuations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AI monetization, Services growth trajectory, and China market stabilization through 2026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Important Disclosures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Sources: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8200" y="1539241"/>
            <a:ext cx="7696200" cy="101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Inc. Form 10-K SEC Filings (Fiscal Years 2023, 2024, 2025)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EDGAR Database (SEC.gov)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Investor Relations (investor.apple.com)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2701765"/>
            <a:ext cx="7924800" cy="383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Disclaimer: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analysis is for educational and informational purposes only. Not investment advice. Past performance does not guarantee future results. Individual circumstances vary. Consult financial advisors before investing.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1060</Words>
  <Application>Microsoft Office PowerPoint</Application>
  <PresentationFormat>On-screen Show (16:9)</PresentationFormat>
  <Paragraphs>209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Pedro Junqueira SILVA</cp:lastModifiedBy>
  <cp:revision>2</cp:revision>
  <dcterms:created xsi:type="dcterms:W3CDTF">2026-03-17T12:52:44Z</dcterms:created>
  <dcterms:modified xsi:type="dcterms:W3CDTF">2026-03-17T12:53:56Z</dcterms:modified>
</cp:coreProperties>
</file>